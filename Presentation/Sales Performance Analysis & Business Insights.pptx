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7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A09568B-029E-2F4D-D9EC-857A17A337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A360E3-4B69-61DC-6463-BD1426B7D3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7759B3-A897-4FE7-B6FE-B9B9300B69F1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20730-F867-8207-118E-6B24FC0645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BEFF49-6090-2426-2C12-B74B08DA79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0CCFA-0251-4867-B2DE-06CCDE04CA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9376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B67F7-6525-4B65-8171-E1097F5D5A99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BDD67-35B7-4E70-A318-59C93786CE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524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4BDD67-35B7-4E70-A318-59C93786CE6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324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6A23-AEAF-C0E8-FEE6-DA6A26C9D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855C41-9F16-861B-9E17-DE22FA83A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1F1270-64A0-2FB8-AE74-CD1EACF25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64B345-203A-47A3-A7B5-9739B1EAC991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FD6D-1D21-EB4C-B52F-EC301A222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E80BC-6F15-1FFF-F7EE-EA9191F3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596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01586-4245-947C-CAE1-D08582F6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21FFC-DCDF-6AA6-3A0E-1DCF25A39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A67998-C067-6177-7027-A2E104712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3F2AE-8093-41B3-94AB-759D05711B40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87704-0899-372F-87FF-33AF2283F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6875-815B-08B8-1CB9-448693FA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31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021BE-D9F8-BAB4-92A0-452F2046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76B3E-CAD4-A5B7-64C3-9051F8929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BD1C8-0ADA-F117-2BF0-836A1C794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BF3E3-31E4-47C6-B871-36B5764685C7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3D49B-252F-819F-D665-419D440C2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280C0-0154-99A0-F7AD-9D22F229F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520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F717B-AA32-84B9-93B5-897F2B84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809B-0725-0098-A774-7B5947C782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6F6353-9F18-0DA2-04B0-FF1314512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1DAB5C-2EA4-07F0-2EF3-523802E1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F56D5-3623-407C-8BF8-E57E1882CA9B}" type="datetime1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2DAB05-0110-9F34-D867-2156CB6DC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70A8B-CB97-7F7A-BB60-31F3287F8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5650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10DA9-796E-AF9F-5E7E-F24F2972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E9577-4ACB-E6F6-0ED9-C05F0C33C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106ED4-F77D-474B-2A9A-8F62212A4B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3066E0-8E40-E66E-E735-338E022AE0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5DC8B-8B05-3966-5EDA-7B42F9669D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B16A01-6258-3AC5-B572-FDAA3ADEA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97CFF-9A39-4DCA-9011-4AA2794EECD9}" type="datetime1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93BC8-0135-1C94-AEC5-146D3412F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295FF-E18C-09C7-6994-C27159779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090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D31C1-CF67-39A0-6516-2E8AE9A8E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5BC67B-7F79-AE14-7770-30C37AD1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4385D-CFDD-40DF-B8D4-4051277E5AF0}" type="datetime1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6D94D-D05F-E2CB-6ECA-51746D856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F83CF6-B220-76EB-DD5E-91AC27463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92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29085-25F4-D453-4C3E-A85A2838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55717-C053-454C-B6BD-8DE825DB9E73}" type="datetime1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76B347-19DE-B3FF-7BAF-02EAAD419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8B144D-33EE-AB0C-7AA3-517D4D18B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144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94C4-03C6-52CF-81BD-EA79EAE05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3F28-F839-3B37-D8C8-21441EC57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75E09-4901-D51C-161A-4F70D4FBA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CCDA2-31A9-34CE-110B-E8669F7D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4BB5-DCD3-4A53-8D80-BA934E5F4619}" type="datetime1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DCB29-3789-B59F-0734-68C490DCE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B230-AE84-F4C3-5B5C-01007646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318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6E8B3-FE37-77F5-2475-824CBBFE0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C38ADE-2491-C4EC-E443-1085988D34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ABC1F-FB6A-CA8C-F78F-7D54388FD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4160F-2F25-04E7-35A2-552CAE43A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AE881-FF0F-4618-BE4E-B49DEBA6FAE6}" type="datetime1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06266B-6D0A-7228-B41C-BCE71520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FCE60-FB09-BA94-3C02-02E8CF645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681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43401-1E9C-2419-B845-1D70CA9F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BAF466-84D0-766A-DD59-80419F01D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30A4-EF3C-FD73-1717-1F39D5351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C8B98-9766-4E6C-B883-E04E227C1EE7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CC8AF-8C03-851E-981A-F10FAF97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82BD0-E5C2-94D1-A13C-248F3CB9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449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18AE3-6D68-F950-2FDE-B4B7AEC5A8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23B2A-CE84-FA04-39BB-676E0BD84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D7C6-D665-DC21-2487-DB64ECAF1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62EB1-87D5-498F-A806-4B8696346B47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B22D2-1C24-96A1-C629-4F9266FFD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B444D5-4E9B-2A20-AD35-BA144A2EB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078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41589A-7267-CCA6-7235-C680E61DB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EAB03E-5263-7985-B071-7E2FB2480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5218A-F4E1-FB5F-1E97-06DCBCD26F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70278-B308-4D32-A0B7-524BF5B3246D}" type="datetime1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E2E91D-85D6-DEAA-E2CF-872199AB1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ApexPlanet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20616-ACCB-9FEF-101A-49410B584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E0229-678A-466A-B5D3-3D2EFBC38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0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FE79-9FF1-347D-A783-78B396A70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457200"/>
            <a:ext cx="9144000" cy="2387600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chemeClr val="accent1">
                    <a:lumMod val="75000"/>
                  </a:schemeClr>
                </a:solidFill>
              </a:rPr>
              <a:t>Sales Performance Analysis &amp; Business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4BE53-C54D-F0DE-F0DD-331158D05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79250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bg1">
                    <a:lumMod val="65000"/>
                  </a:schemeClr>
                </a:solidFill>
              </a:rPr>
              <a:t>Task-4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B6B0DF-6717-6B1E-FDBB-30D9B2827212}"/>
              </a:ext>
            </a:extLst>
          </p:cNvPr>
          <p:cNvSpPr/>
          <p:nvPr/>
        </p:nvSpPr>
        <p:spPr>
          <a:xfrm>
            <a:off x="0" y="-1"/>
            <a:ext cx="12192000" cy="334297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7CD1F9-29E5-5AF7-BA99-C370F928D170}"/>
              </a:ext>
            </a:extLst>
          </p:cNvPr>
          <p:cNvSpPr/>
          <p:nvPr/>
        </p:nvSpPr>
        <p:spPr>
          <a:xfrm>
            <a:off x="0" y="270000"/>
            <a:ext cx="144000" cy="65880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Graphic 6" descr="Upward trend with solid fill">
            <a:extLst>
              <a:ext uri="{FF2B5EF4-FFF2-40B4-BE49-F238E27FC236}">
                <a16:creationId xmlns:a16="http://schemas.microsoft.com/office/drawing/2014/main" id="{432C0F73-9EFA-2E4A-0A51-71E0961266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4336" y="5418000"/>
            <a:ext cx="1440000" cy="144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A3DAFAA-F5A7-FF32-9E46-6E4EB6E69FF2}"/>
              </a:ext>
            </a:extLst>
          </p:cNvPr>
          <p:cNvSpPr txBox="1"/>
          <p:nvPr/>
        </p:nvSpPr>
        <p:spPr>
          <a:xfrm>
            <a:off x="144000" y="6605481"/>
            <a:ext cx="1753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 err="1"/>
              <a:t>ApexPlanet</a:t>
            </a:r>
            <a:r>
              <a:rPr lang="en-IN" sz="1000" dirty="0"/>
              <a:t> Internship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D54A67-CBE6-766C-8A0C-132CA8CD74BB}"/>
              </a:ext>
            </a:extLst>
          </p:cNvPr>
          <p:cNvSpPr txBox="1"/>
          <p:nvPr/>
        </p:nvSpPr>
        <p:spPr>
          <a:xfrm>
            <a:off x="10445929" y="6605480"/>
            <a:ext cx="876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22214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ED782-53FB-1A69-6E9C-66865E5A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0" y="445711"/>
            <a:ext cx="10515600" cy="1746883"/>
          </a:xfrm>
        </p:spPr>
        <p:txBody>
          <a:bodyPr>
            <a:normAutofit/>
          </a:bodyPr>
          <a:lstStyle/>
          <a:p>
            <a:r>
              <a:rPr lang="en-IN" dirty="0"/>
              <a:t>Business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115CBD-CE09-076D-8295-D5482976CFDE}"/>
              </a:ext>
            </a:extLst>
          </p:cNvPr>
          <p:cNvSpPr txBox="1"/>
          <p:nvPr/>
        </p:nvSpPr>
        <p:spPr>
          <a:xfrm>
            <a:off x="1365455" y="2513129"/>
            <a:ext cx="10515600" cy="10156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sz="2000" dirty="0"/>
              <a:t>This project analyses </a:t>
            </a:r>
            <a:r>
              <a:rPr lang="en-IN" sz="2000" b="1" dirty="0"/>
              <a:t>sales data </a:t>
            </a:r>
            <a:r>
              <a:rPr lang="en-IN" sz="2000" dirty="0"/>
              <a:t>to identify </a:t>
            </a:r>
            <a:r>
              <a:rPr lang="en-IN" sz="2000" b="1" dirty="0"/>
              <a:t>business trends, customer purchasing behaviour, top-performing products</a:t>
            </a:r>
            <a:r>
              <a:rPr lang="en-IN" sz="2000" dirty="0"/>
              <a:t>, and </a:t>
            </a:r>
            <a:r>
              <a:rPr lang="en-IN" sz="2000" b="1" dirty="0"/>
              <a:t>regional sales patterns</a:t>
            </a:r>
            <a:r>
              <a:rPr lang="en-IN" sz="2000" dirty="0"/>
              <a:t>. It also validates key findings through </a:t>
            </a:r>
            <a:r>
              <a:rPr lang="en-IN" sz="2000" b="1" dirty="0"/>
              <a:t>statistical testing </a:t>
            </a:r>
            <a:r>
              <a:rPr lang="en-IN" sz="2000" dirty="0"/>
              <a:t>and provides </a:t>
            </a:r>
            <a:r>
              <a:rPr lang="en-IN" sz="2000" b="1" dirty="0"/>
              <a:t>actionable recommendations</a:t>
            </a:r>
            <a:r>
              <a:rPr lang="en-IN" sz="2000" dirty="0"/>
              <a:t> to improve business performance.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9EF9ED-9FA1-EA81-262E-8ABE2B00C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02011" y="6642606"/>
            <a:ext cx="1369141" cy="254513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F791482E-837C-FAD5-E148-29D13894B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455" y="2570960"/>
            <a:ext cx="900000" cy="900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CCB376-3313-1DE6-0ECD-A6189ED100B1}"/>
              </a:ext>
            </a:extLst>
          </p:cNvPr>
          <p:cNvSpPr txBox="1"/>
          <p:nvPr/>
        </p:nvSpPr>
        <p:spPr>
          <a:xfrm>
            <a:off x="11521663" y="6650898"/>
            <a:ext cx="8768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AD65E5C-C189-E025-21DF-FB3E20F72FA2}"/>
              </a:ext>
            </a:extLst>
          </p:cNvPr>
          <p:cNvCxnSpPr>
            <a:cxnSpLocks/>
          </p:cNvCxnSpPr>
          <p:nvPr/>
        </p:nvCxnSpPr>
        <p:spPr>
          <a:xfrm>
            <a:off x="582560" y="1592826"/>
            <a:ext cx="435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890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9B5DE-D5DD-E540-0F7B-423C6D97C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46" y="256970"/>
            <a:ext cx="10368000" cy="1325563"/>
          </a:xfrm>
        </p:spPr>
        <p:txBody>
          <a:bodyPr/>
          <a:lstStyle/>
          <a:p>
            <a:r>
              <a:rPr lang="en-IN" dirty="0"/>
              <a:t>Dataset Overview</a:t>
            </a:r>
            <a:br>
              <a:rPr lang="en-IN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F240-DF03-2B2D-AA50-C99F8495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10614" y="6557242"/>
            <a:ext cx="1467465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26B22DD-1875-11E5-EE0F-E2CDBCE63E23}"/>
              </a:ext>
            </a:extLst>
          </p:cNvPr>
          <p:cNvCxnSpPr>
            <a:cxnSpLocks/>
            <a:stCxn id="2" idx="1"/>
          </p:cNvCxnSpPr>
          <p:nvPr/>
        </p:nvCxnSpPr>
        <p:spPr>
          <a:xfrm flipV="1">
            <a:off x="425246" y="875071"/>
            <a:ext cx="403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7E1D838-ADF1-AD48-E681-5279D44984B7}"/>
              </a:ext>
            </a:extLst>
          </p:cNvPr>
          <p:cNvSpPr txBox="1"/>
          <p:nvPr/>
        </p:nvSpPr>
        <p:spPr>
          <a:xfrm>
            <a:off x="1782097" y="3617504"/>
            <a:ext cx="615007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✔ </a:t>
            </a:r>
            <a:r>
              <a:rPr lang="en-IN" sz="2000" dirty="0"/>
              <a:t>Data cleaned and </a:t>
            </a:r>
            <a:r>
              <a:rPr lang="en-IN" sz="2000" dirty="0" err="1"/>
              <a:t>preprocessed</a:t>
            </a:r>
            <a:br>
              <a:rPr lang="en-IN" sz="2000" dirty="0"/>
            </a:br>
            <a:r>
              <a:rPr lang="en-IN" sz="2000" dirty="0"/>
              <a:t>✔ Missing values handled</a:t>
            </a:r>
            <a:br>
              <a:rPr lang="en-IN" sz="2000" dirty="0"/>
            </a:br>
            <a:r>
              <a:rPr lang="en-IN" sz="2000" dirty="0"/>
              <a:t>✔ Dataset ready for analysis</a:t>
            </a:r>
            <a:br>
              <a:rPr lang="en-IN" sz="2000" dirty="0"/>
            </a:br>
            <a:r>
              <a:rPr lang="en-IN" sz="2000" dirty="0"/>
              <a:t>✔ Used for Power BI &amp; statistical testing</a:t>
            </a:r>
            <a:br>
              <a:rPr lang="en-IN" dirty="0"/>
            </a:b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9DE1BF-2C06-E29C-782D-777841A50FC3}"/>
              </a:ext>
            </a:extLst>
          </p:cNvPr>
          <p:cNvSpPr txBox="1"/>
          <p:nvPr/>
        </p:nvSpPr>
        <p:spPr>
          <a:xfrm>
            <a:off x="11495234" y="6621860"/>
            <a:ext cx="6967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EB062A-7656-025F-356F-598BC78E7A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5651016"/>
              </p:ext>
            </p:extLst>
          </p:nvPr>
        </p:nvGraphicFramePr>
        <p:xfrm>
          <a:off x="1782096" y="1379469"/>
          <a:ext cx="958399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1997">
                  <a:extLst>
                    <a:ext uri="{9D8B030D-6E8A-4147-A177-3AD203B41FA5}">
                      <a16:colId xmlns:a16="http://schemas.microsoft.com/office/drawing/2014/main" val="2812221173"/>
                    </a:ext>
                  </a:extLst>
                </a:gridCol>
                <a:gridCol w="4791997">
                  <a:extLst>
                    <a:ext uri="{9D8B030D-6E8A-4147-A177-3AD203B41FA5}">
                      <a16:colId xmlns:a16="http://schemas.microsoft.com/office/drawing/2014/main" val="1619896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7964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Total Records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1000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980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Columns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2715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968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₹139.4 M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9444066"/>
                  </a:ext>
                </a:extLst>
              </a:tr>
            </a:tbl>
          </a:graphicData>
        </a:graphic>
      </p:graphicFrame>
      <p:pic>
        <p:nvPicPr>
          <p:cNvPr id="20" name="Graphic 19" descr="Database with solid fill">
            <a:extLst>
              <a:ext uri="{FF2B5EF4-FFF2-40B4-BE49-F238E27FC236}">
                <a16:creationId xmlns:a16="http://schemas.microsoft.com/office/drawing/2014/main" id="{77A0FF75-7640-704E-2538-2D5E47E9F5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23119" y="137753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6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74ACD-C202-BB4F-3192-A6E12B5E3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286467"/>
            <a:ext cx="10515600" cy="1325563"/>
          </a:xfrm>
        </p:spPr>
        <p:txBody>
          <a:bodyPr/>
          <a:lstStyle/>
          <a:p>
            <a:r>
              <a:rPr lang="en-IN" dirty="0"/>
              <a:t>Dashboard Overview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DA4A0A-504E-34F7-3C92-D9C312D3B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40560" y="6581204"/>
            <a:ext cx="1398639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8179CCD-1AAB-3834-45C0-AAA1D8B09561}"/>
              </a:ext>
            </a:extLst>
          </p:cNvPr>
          <p:cNvCxnSpPr>
            <a:cxnSpLocks/>
          </p:cNvCxnSpPr>
          <p:nvPr/>
        </p:nvCxnSpPr>
        <p:spPr>
          <a:xfrm flipV="1">
            <a:off x="658762" y="1268360"/>
            <a:ext cx="468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558B9E8-BCF1-156F-928B-ADF83B904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60" y="1612030"/>
            <a:ext cx="10990007" cy="40688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41E479-2D29-4B4A-39D8-69C81702CEC9}"/>
              </a:ext>
            </a:extLst>
          </p:cNvPr>
          <p:cNvSpPr txBox="1"/>
          <p:nvPr/>
        </p:nvSpPr>
        <p:spPr>
          <a:xfrm>
            <a:off x="658761" y="5742639"/>
            <a:ext cx="99429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Figure 1</a:t>
            </a:r>
            <a:r>
              <a:rPr lang="en-IN" b="1" dirty="0"/>
              <a:t>:</a:t>
            </a:r>
            <a:r>
              <a:rPr lang="en-IN" dirty="0"/>
              <a:t> Interactive Power BI dashboard summarizing sales performance by month, category, city, product, and customer demographics.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A29F1-E00A-C6F3-0864-31A3F8EC3446}"/>
              </a:ext>
            </a:extLst>
          </p:cNvPr>
          <p:cNvSpPr txBox="1"/>
          <p:nvPr/>
        </p:nvSpPr>
        <p:spPr>
          <a:xfrm>
            <a:off x="11535291" y="6640655"/>
            <a:ext cx="961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3221817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1D9B-EFF3-E14B-4817-66E41B1E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Business Insights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CA3044-3829-6A6A-F823-42FBEBD5C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88490" y="6595653"/>
            <a:ext cx="1359310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EBFAE-1957-8374-00F6-08DCF5025252}"/>
              </a:ext>
            </a:extLst>
          </p:cNvPr>
          <p:cNvCxnSpPr>
            <a:cxnSpLocks/>
          </p:cNvCxnSpPr>
          <p:nvPr/>
        </p:nvCxnSpPr>
        <p:spPr>
          <a:xfrm>
            <a:off x="993058" y="1347019"/>
            <a:ext cx="475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FF47B2-D0D4-AE7E-DC85-332433DC8D3A}"/>
              </a:ext>
            </a:extLst>
          </p:cNvPr>
          <p:cNvSpPr txBox="1"/>
          <p:nvPr/>
        </p:nvSpPr>
        <p:spPr>
          <a:xfrm>
            <a:off x="11525459" y="6655106"/>
            <a:ext cx="9615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BCA2B5-CAC0-9571-063A-E16B9CEE7003}"/>
              </a:ext>
            </a:extLst>
          </p:cNvPr>
          <p:cNvSpPr txBox="1"/>
          <p:nvPr/>
        </p:nvSpPr>
        <p:spPr>
          <a:xfrm>
            <a:off x="5745058" y="1690688"/>
            <a:ext cx="34382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Business Insights</a:t>
            </a: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Top Category: </a:t>
            </a:r>
            <a:r>
              <a:rPr lang="en-IN" sz="2000" b="1" dirty="0"/>
              <a:t>Electronics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Top Products: </a:t>
            </a:r>
            <a:r>
              <a:rPr lang="en-IN" sz="2000" b="1" dirty="0"/>
              <a:t>Laptop</a:t>
            </a:r>
            <a:r>
              <a:rPr lang="en-IN" sz="2000" dirty="0"/>
              <a:t> &amp; </a:t>
            </a:r>
            <a:r>
              <a:rPr lang="en-IN" sz="2000" b="1" dirty="0"/>
              <a:t>Mobile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Top City: </a:t>
            </a:r>
            <a:r>
              <a:rPr lang="en-IN" sz="2000" b="1" dirty="0"/>
              <a:t>Patna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1F1B58-CD27-DD43-FF5F-E38154375B91}"/>
              </a:ext>
            </a:extLst>
          </p:cNvPr>
          <p:cNvSpPr txBox="1"/>
          <p:nvPr/>
        </p:nvSpPr>
        <p:spPr>
          <a:xfrm>
            <a:off x="2002041" y="1690687"/>
            <a:ext cx="3657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Sales Performance</a:t>
            </a:r>
            <a:endParaRPr lang="en-IN" sz="2000" dirty="0"/>
          </a:p>
          <a:p>
            <a:r>
              <a:rPr lang="en-IN" sz="2000" dirty="0"/>
              <a:t>Total Sales: </a:t>
            </a:r>
            <a:r>
              <a:rPr lang="en-IN" sz="2000" b="1" dirty="0"/>
              <a:t>₹139.4M </a:t>
            </a:r>
          </a:p>
          <a:p>
            <a:r>
              <a:rPr lang="en-IN" sz="2000" dirty="0"/>
              <a:t>Average Order Value: </a:t>
            </a:r>
            <a:r>
              <a:rPr lang="en-IN" sz="2000" b="1" dirty="0"/>
              <a:t>₹139.4K </a:t>
            </a:r>
          </a:p>
          <a:p>
            <a:r>
              <a:rPr lang="en-IN" sz="2000" dirty="0"/>
              <a:t>Peak Months: </a:t>
            </a:r>
            <a:r>
              <a:rPr lang="en-IN" sz="2000" b="1" dirty="0"/>
              <a:t>April</a:t>
            </a:r>
            <a:r>
              <a:rPr lang="en-IN" sz="2000" dirty="0"/>
              <a:t> &amp; </a:t>
            </a:r>
            <a:r>
              <a:rPr lang="en-IN" sz="2000" b="1" dirty="0"/>
              <a:t>November</a:t>
            </a:r>
          </a:p>
        </p:txBody>
      </p:sp>
      <p:pic>
        <p:nvPicPr>
          <p:cNvPr id="17" name="Graphic 16" descr="Bar graph with upward trend with solid fill">
            <a:extLst>
              <a:ext uri="{FF2B5EF4-FFF2-40B4-BE49-F238E27FC236}">
                <a16:creationId xmlns:a16="http://schemas.microsoft.com/office/drawing/2014/main" id="{80C2B296-7194-ECF5-2CBF-AA685CC2E9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2555" y="1690687"/>
            <a:ext cx="864000" cy="864000"/>
          </a:xfrm>
          <a:prstGeom prst="rect">
            <a:avLst/>
          </a:prstGeom>
        </p:spPr>
      </p:pic>
      <p:pic>
        <p:nvPicPr>
          <p:cNvPr id="21" name="Graphic 20" descr="Briefcase with solid fill">
            <a:extLst>
              <a:ext uri="{FF2B5EF4-FFF2-40B4-BE49-F238E27FC236}">
                <a16:creationId xmlns:a16="http://schemas.microsoft.com/office/drawing/2014/main" id="{79A8A222-D8E6-C376-DB8B-1A67DB0CC5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83329" y="1584356"/>
            <a:ext cx="864000" cy="8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951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38CFE-D254-4E99-80B3-82AFFDE9E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Hypothesis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1E723F-ABAF-1B79-7103-86CF1EDF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30277" y="6611779"/>
            <a:ext cx="1418303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A6FAC3-B99F-44FC-A801-F8738EC8F97E}"/>
              </a:ext>
            </a:extLst>
          </p:cNvPr>
          <p:cNvCxnSpPr>
            <a:cxnSpLocks/>
          </p:cNvCxnSpPr>
          <p:nvPr/>
        </p:nvCxnSpPr>
        <p:spPr>
          <a:xfrm>
            <a:off x="963561" y="1052052"/>
            <a:ext cx="46408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75A1441-CD0A-D9E2-465D-E2E390B75D1E}"/>
              </a:ext>
            </a:extLst>
          </p:cNvPr>
          <p:cNvSpPr txBox="1"/>
          <p:nvPr/>
        </p:nvSpPr>
        <p:spPr>
          <a:xfrm>
            <a:off x="1420761" y="1291306"/>
            <a:ext cx="680392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Hypothesis</a:t>
            </a:r>
            <a:br>
              <a:rPr lang="en-IN" dirty="0"/>
            </a:b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3F1A8-69D7-04CA-8836-772457D405F0}"/>
              </a:ext>
            </a:extLst>
          </p:cNvPr>
          <p:cNvSpPr txBox="1"/>
          <p:nvPr/>
        </p:nvSpPr>
        <p:spPr>
          <a:xfrm>
            <a:off x="838199" y="1937637"/>
            <a:ext cx="843361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H₀ (Null Hypothesis)</a:t>
            </a:r>
            <a:br>
              <a:rPr lang="en-IN" sz="2000" dirty="0"/>
            </a:br>
            <a:r>
              <a:rPr lang="en-IN" sz="2000" dirty="0"/>
              <a:t>There is no statistically significant difference in</a:t>
            </a:r>
            <a:br>
              <a:rPr lang="en-IN" sz="2000" dirty="0"/>
            </a:br>
            <a:r>
              <a:rPr lang="en-IN" sz="2000" dirty="0"/>
              <a:t>average sales between male and female customers.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3B87F-774D-D624-78D1-79965386082F}"/>
              </a:ext>
            </a:extLst>
          </p:cNvPr>
          <p:cNvSpPr txBox="1"/>
          <p:nvPr/>
        </p:nvSpPr>
        <p:spPr>
          <a:xfrm>
            <a:off x="838200" y="2995362"/>
            <a:ext cx="829596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H₁ (Alternative Hypothesis)</a:t>
            </a:r>
            <a:br>
              <a:rPr lang="en-IN" sz="2000" dirty="0"/>
            </a:br>
            <a:r>
              <a:rPr lang="en-IN" sz="2000" dirty="0"/>
              <a:t>There is a statistically significant difference in</a:t>
            </a:r>
            <a:br>
              <a:rPr lang="en-IN" sz="2000" dirty="0"/>
            </a:br>
            <a:r>
              <a:rPr lang="en-IN" sz="2000" dirty="0"/>
              <a:t>average sales between male and female customers.</a:t>
            </a:r>
            <a:br>
              <a:rPr lang="en-IN" sz="2000" dirty="0"/>
            </a:br>
            <a:endParaRPr lang="en-IN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426AE-4837-CC2A-9A21-29ECB45394E8}"/>
              </a:ext>
            </a:extLst>
          </p:cNvPr>
          <p:cNvSpPr txBox="1"/>
          <p:nvPr/>
        </p:nvSpPr>
        <p:spPr>
          <a:xfrm>
            <a:off x="838200" y="4135592"/>
            <a:ext cx="680392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Statistical Test Used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• Independent Samples </a:t>
            </a:r>
            <a:r>
              <a:rPr lang="en-IN" sz="2000" b="1" dirty="0"/>
              <a:t>T-Test</a:t>
            </a:r>
            <a:br>
              <a:rPr lang="en-IN" sz="2000" dirty="0"/>
            </a:br>
            <a:br>
              <a:rPr lang="en-IN" sz="2000" dirty="0"/>
            </a:br>
            <a:r>
              <a:rPr lang="en-IN" sz="2000" dirty="0"/>
              <a:t>• Significance Level (α): </a:t>
            </a:r>
            <a:r>
              <a:rPr lang="en-IN" sz="2000" b="1" dirty="0"/>
              <a:t>0.05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9E59AA-D2B8-B9FE-9BD8-4DCA51D9549B}"/>
              </a:ext>
            </a:extLst>
          </p:cNvPr>
          <p:cNvSpPr txBox="1"/>
          <p:nvPr/>
        </p:nvSpPr>
        <p:spPr>
          <a:xfrm>
            <a:off x="11474245" y="6671230"/>
            <a:ext cx="7177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pic>
        <p:nvPicPr>
          <p:cNvPr id="18" name="Graphic 17" descr="Target with solid fill">
            <a:extLst>
              <a:ext uri="{FF2B5EF4-FFF2-40B4-BE49-F238E27FC236}">
                <a16:creationId xmlns:a16="http://schemas.microsoft.com/office/drawing/2014/main" id="{DB90FEE1-4AEE-F663-F8DB-CAB351E48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6361" y="104891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632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29356-6AA5-3D37-9554-40DB3696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Statistical Analysis &amp; Results</a:t>
            </a:r>
            <a:br>
              <a:rPr lang="en-IN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97641C-8E69-3C2A-87BA-643664D22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51990" y="6572660"/>
            <a:ext cx="1536290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A54B02-3893-7363-CABE-F93F57EAEAE2}"/>
              </a:ext>
            </a:extLst>
          </p:cNvPr>
          <p:cNvCxnSpPr>
            <a:cxnSpLocks/>
          </p:cNvCxnSpPr>
          <p:nvPr/>
        </p:nvCxnSpPr>
        <p:spPr>
          <a:xfrm>
            <a:off x="963561" y="1002890"/>
            <a:ext cx="62926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DD57A4-4E73-0F7D-0D54-2812ECF49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460734"/>
              </p:ext>
            </p:extLst>
          </p:nvPr>
        </p:nvGraphicFramePr>
        <p:xfrm>
          <a:off x="616155" y="1407924"/>
          <a:ext cx="571582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910">
                  <a:extLst>
                    <a:ext uri="{9D8B030D-6E8A-4147-A177-3AD203B41FA5}">
                      <a16:colId xmlns:a16="http://schemas.microsoft.com/office/drawing/2014/main" val="1091212969"/>
                    </a:ext>
                  </a:extLst>
                </a:gridCol>
                <a:gridCol w="2857910">
                  <a:extLst>
                    <a:ext uri="{9D8B030D-6E8A-4147-A177-3AD203B41FA5}">
                      <a16:colId xmlns:a16="http://schemas.microsoft.com/office/drawing/2014/main" val="3719216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Metric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Value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1015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Average Sales (Male)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₹141,807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4802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Average Sales (Female)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₹136,883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5978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Statistical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Independent Samples T-Test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7837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Significance Level (α)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33812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P-value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0.495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17364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A5C2EFC-1FE1-D25F-7242-5DAD97930406}"/>
              </a:ext>
            </a:extLst>
          </p:cNvPr>
          <p:cNvSpPr txBox="1"/>
          <p:nvPr/>
        </p:nvSpPr>
        <p:spPr>
          <a:xfrm>
            <a:off x="6764594" y="1407924"/>
            <a:ext cx="45892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Interpretation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P-value = 0.495</a:t>
            </a:r>
            <a:r>
              <a:rPr lang="en-IN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Since </a:t>
            </a:r>
            <a:r>
              <a:rPr lang="en-IN" sz="2000" b="1" dirty="0"/>
              <a:t>0.495 &gt; 0.05</a:t>
            </a:r>
            <a:r>
              <a:rPr lang="en-IN" sz="2000" dirty="0"/>
              <a:t>, we </a:t>
            </a:r>
            <a:r>
              <a:rPr lang="en-IN" sz="2000" b="1" dirty="0"/>
              <a:t>fail to reject the null hypothesis</a:t>
            </a:r>
            <a:r>
              <a:rPr lang="en-IN" sz="20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There is </a:t>
            </a:r>
            <a:r>
              <a:rPr lang="en-IN" sz="2000" b="1" dirty="0"/>
              <a:t>no statistically significant difference</a:t>
            </a:r>
            <a:r>
              <a:rPr lang="en-IN" sz="2000" dirty="0"/>
              <a:t> in average spending between male and female customers.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6F6F6A-DF93-0FD0-DC66-633662022375}"/>
              </a:ext>
            </a:extLst>
          </p:cNvPr>
          <p:cNvSpPr txBox="1"/>
          <p:nvPr/>
        </p:nvSpPr>
        <p:spPr>
          <a:xfrm>
            <a:off x="616154" y="4075598"/>
            <a:ext cx="966838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Conclusion</a:t>
            </a:r>
            <a:endParaRPr lang="en-IN" sz="2000" dirty="0"/>
          </a:p>
          <a:p>
            <a:pPr>
              <a:buNone/>
            </a:pPr>
            <a:r>
              <a:rPr lang="en-IN" sz="2000" dirty="0"/>
              <a:t>Customer spending is not significantly influenced by gender. Therefore, business strategies should focus on </a:t>
            </a:r>
            <a:r>
              <a:rPr lang="en-IN" sz="2000" b="1" dirty="0"/>
              <a:t>products, cities, and seasonal trends</a:t>
            </a:r>
            <a:r>
              <a:rPr lang="en-IN" sz="2000" dirty="0"/>
              <a:t> rather than gender-specific marketing.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0AC04-2F9C-FE03-A7FC-BE2A12F05395}"/>
              </a:ext>
            </a:extLst>
          </p:cNvPr>
          <p:cNvSpPr txBox="1"/>
          <p:nvPr/>
        </p:nvSpPr>
        <p:spPr>
          <a:xfrm>
            <a:off x="11530781" y="6636360"/>
            <a:ext cx="73004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619557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56B8F-66D4-0EB5-6D91-D2D600B3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083" y="237306"/>
            <a:ext cx="10515600" cy="1325563"/>
          </a:xfrm>
        </p:spPr>
        <p:txBody>
          <a:bodyPr/>
          <a:lstStyle/>
          <a:p>
            <a:r>
              <a:rPr lang="en-IN" b="1" dirty="0"/>
              <a:t>Business Recommendations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73F63E-76B1-BDB1-0E32-29CB7A599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615778"/>
            <a:ext cx="1231490" cy="365125"/>
          </a:xfrm>
        </p:spPr>
        <p:txBody>
          <a:bodyPr/>
          <a:lstStyle/>
          <a:p>
            <a:r>
              <a:rPr lang="en-IN" sz="900" dirty="0" err="1">
                <a:solidFill>
                  <a:schemeClr val="tx1"/>
                </a:solidFill>
              </a:rPr>
              <a:t>ApexPlanet</a:t>
            </a:r>
            <a:r>
              <a:rPr lang="en-IN" sz="9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4423E66-57CB-3BC4-6B1C-0A8D7CC9CC50}"/>
              </a:ext>
            </a:extLst>
          </p:cNvPr>
          <p:cNvCxnSpPr>
            <a:cxnSpLocks/>
          </p:cNvCxnSpPr>
          <p:nvPr/>
        </p:nvCxnSpPr>
        <p:spPr>
          <a:xfrm>
            <a:off x="481781" y="900087"/>
            <a:ext cx="6120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F6697FE-2736-30A1-40BC-81CAFE1E5088}"/>
              </a:ext>
            </a:extLst>
          </p:cNvPr>
          <p:cNvSpPr txBox="1"/>
          <p:nvPr/>
        </p:nvSpPr>
        <p:spPr>
          <a:xfrm>
            <a:off x="376083" y="976535"/>
            <a:ext cx="7765027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Product Strategy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Increase investment in the </a:t>
            </a:r>
            <a:r>
              <a:rPr lang="en-IN" sz="2000" b="1" dirty="0"/>
              <a:t>Electronics</a:t>
            </a:r>
            <a:r>
              <a:rPr lang="en-IN" sz="2000" dirty="0"/>
              <a:t> category due to its strong revenue contribution.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Bundle </a:t>
            </a:r>
            <a:r>
              <a:rPr lang="en-IN" sz="2000" b="1" dirty="0"/>
              <a:t>Laptop &amp; Mobile</a:t>
            </a:r>
            <a:r>
              <a:rPr lang="en-IN" sz="2000" dirty="0"/>
              <a:t> offers to increase average order value.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Focus </a:t>
            </a:r>
            <a:r>
              <a:rPr lang="en-IN" sz="2000" b="1" dirty="0"/>
              <a:t>inventory planning </a:t>
            </a:r>
            <a:r>
              <a:rPr lang="en-IN" sz="2000" dirty="0"/>
              <a:t>on </a:t>
            </a:r>
            <a:r>
              <a:rPr lang="en-IN" sz="2000" b="1" dirty="0"/>
              <a:t>high-demand products </a:t>
            </a:r>
            <a:r>
              <a:rPr lang="en-IN" sz="2000" dirty="0"/>
              <a:t>to avoid stock shortages.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638C4B-734B-5560-678C-423710DF4FCD}"/>
              </a:ext>
            </a:extLst>
          </p:cNvPr>
          <p:cNvSpPr txBox="1"/>
          <p:nvPr/>
        </p:nvSpPr>
        <p:spPr>
          <a:xfrm>
            <a:off x="376083" y="2819969"/>
            <a:ext cx="988879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Sales Strategy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Launch promotions during </a:t>
            </a:r>
            <a:r>
              <a:rPr lang="en-IN" sz="2000" b="1" dirty="0"/>
              <a:t>low-sales months</a:t>
            </a:r>
            <a:r>
              <a:rPr lang="en-IN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Replicate </a:t>
            </a:r>
            <a:r>
              <a:rPr lang="en-IN" sz="2000" b="1" dirty="0"/>
              <a:t>successful strategies </a:t>
            </a:r>
            <a:r>
              <a:rPr lang="en-IN" sz="2000" dirty="0"/>
              <a:t>across cities.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Introduce </a:t>
            </a:r>
            <a:r>
              <a:rPr lang="en-IN" sz="2000" b="1" dirty="0"/>
              <a:t>seasonal discounts </a:t>
            </a:r>
            <a:r>
              <a:rPr lang="en-IN" sz="2000" dirty="0"/>
              <a:t>during </a:t>
            </a:r>
            <a:r>
              <a:rPr lang="en-IN" sz="2000" b="1" dirty="0"/>
              <a:t>festive periods </a:t>
            </a:r>
            <a:r>
              <a:rPr lang="en-IN" sz="2000" dirty="0"/>
              <a:t>to maximize revenue. 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1E0509-45E8-B52E-75CA-1C6F908D6F1B}"/>
              </a:ext>
            </a:extLst>
          </p:cNvPr>
          <p:cNvSpPr txBox="1"/>
          <p:nvPr/>
        </p:nvSpPr>
        <p:spPr>
          <a:xfrm>
            <a:off x="376083" y="4042482"/>
            <a:ext cx="970198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Business Strategy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Continue monitoring </a:t>
            </a:r>
            <a:r>
              <a:rPr lang="en-IN" sz="2000" b="1" dirty="0"/>
              <a:t>KPIs</a:t>
            </a:r>
            <a:r>
              <a:rPr lang="en-IN" sz="2000" dirty="0"/>
              <a:t> using </a:t>
            </a:r>
            <a:r>
              <a:rPr lang="en-IN" sz="2000" b="1" dirty="0"/>
              <a:t>Power BI</a:t>
            </a:r>
            <a:r>
              <a:rPr lang="en-IN" sz="2000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Make decisions based on statistical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Regularly review </a:t>
            </a:r>
            <a:r>
              <a:rPr lang="en-IN" b="1" dirty="0"/>
              <a:t>customer purchasing trends </a:t>
            </a:r>
            <a:r>
              <a:rPr lang="en-IN" dirty="0"/>
              <a:t>to optimize marketing strategies.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507CF-249A-BE94-9EE7-4F9C65D1335B}"/>
              </a:ext>
            </a:extLst>
          </p:cNvPr>
          <p:cNvSpPr txBox="1"/>
          <p:nvPr/>
        </p:nvSpPr>
        <p:spPr>
          <a:xfrm>
            <a:off x="11602064" y="6674900"/>
            <a:ext cx="717755" cy="246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4A620B-ED49-23E6-F24C-ECCFC51CD018}"/>
              </a:ext>
            </a:extLst>
          </p:cNvPr>
          <p:cNvSpPr txBox="1"/>
          <p:nvPr/>
        </p:nvSpPr>
        <p:spPr>
          <a:xfrm>
            <a:off x="376083" y="5368429"/>
            <a:ext cx="9326477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r>
              <a:rPr lang="en-IN" b="1" dirty="0"/>
              <a:t>Call to Action:</a:t>
            </a:r>
            <a:br>
              <a:rPr lang="en-IN" dirty="0"/>
            </a:br>
            <a:r>
              <a:rPr lang="en-IN" i="1" dirty="0"/>
              <a:t>Implement these recommendations to improve sales performance, optimize marketing strategies, and support data-driven decision-making.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755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5B73-9927-A4C0-2D63-819F59357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566284-DA28-56AE-8E8A-8B587E685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17987" y="6615984"/>
            <a:ext cx="1388806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39A912B-9953-2F51-A74A-7E0C959E63DB}"/>
              </a:ext>
            </a:extLst>
          </p:cNvPr>
          <p:cNvCxnSpPr>
            <a:cxnSpLocks/>
          </p:cNvCxnSpPr>
          <p:nvPr/>
        </p:nvCxnSpPr>
        <p:spPr>
          <a:xfrm>
            <a:off x="838200" y="1312146"/>
            <a:ext cx="27432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413B0C2-C409-B55B-4848-18297A49E8EE}"/>
              </a:ext>
            </a:extLst>
          </p:cNvPr>
          <p:cNvSpPr txBox="1"/>
          <p:nvPr/>
        </p:nvSpPr>
        <p:spPr>
          <a:xfrm>
            <a:off x="11582401" y="6675435"/>
            <a:ext cx="6980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395462-426A-C741-4CA7-290824241E19}"/>
              </a:ext>
            </a:extLst>
          </p:cNvPr>
          <p:cNvSpPr txBox="1"/>
          <p:nvPr/>
        </p:nvSpPr>
        <p:spPr>
          <a:xfrm>
            <a:off x="432618" y="1508685"/>
            <a:ext cx="983225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Successfully </a:t>
            </a:r>
            <a:r>
              <a:rPr lang="en-IN" dirty="0" err="1"/>
              <a:t>analyzed</a:t>
            </a:r>
            <a:r>
              <a:rPr lang="en-IN" dirty="0"/>
              <a:t> sales data using </a:t>
            </a:r>
            <a:r>
              <a:rPr lang="en-IN" b="1" dirty="0"/>
              <a:t>Power BI</a:t>
            </a:r>
            <a:r>
              <a:rPr lang="en-IN" dirty="0"/>
              <a:t> and basic statistical methods.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Identified </a:t>
            </a:r>
            <a:r>
              <a:rPr lang="en-IN" b="1" dirty="0"/>
              <a:t>Electronics</a:t>
            </a:r>
            <a:r>
              <a:rPr lang="en-IN" dirty="0"/>
              <a:t> as the highest revenue-generating category, with </a:t>
            </a:r>
            <a:r>
              <a:rPr lang="en-IN" b="1" dirty="0"/>
              <a:t>Laptop &amp; Mobile</a:t>
            </a:r>
            <a:r>
              <a:rPr lang="en-IN" dirty="0"/>
              <a:t> as the top-performing products.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Sales trends revealed </a:t>
            </a:r>
            <a:r>
              <a:rPr lang="en-IN" b="1" dirty="0"/>
              <a:t>peak and low-performing periods</a:t>
            </a:r>
            <a:r>
              <a:rPr lang="en-IN" dirty="0"/>
              <a:t>, enabling better planning for promotions and inventory.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Statistical testing showed that </a:t>
            </a:r>
            <a:r>
              <a:rPr lang="en-IN" b="1" dirty="0"/>
              <a:t>gender does not significantly influence average customer spending</a:t>
            </a:r>
            <a:r>
              <a:rPr lang="en-IN" dirty="0"/>
              <a:t> </a:t>
            </a:r>
            <a:r>
              <a:rPr lang="en-IN" i="1" dirty="0"/>
              <a:t>(p-value &gt; 0.05)</a:t>
            </a:r>
            <a:r>
              <a:rPr lang="en-I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analysis demonstrates how </a:t>
            </a:r>
            <a:r>
              <a:rPr lang="en-IN" b="1" dirty="0"/>
              <a:t>data-driven decision-making</a:t>
            </a:r>
            <a:r>
              <a:rPr lang="en-IN" dirty="0"/>
              <a:t> can improve sales performance, optimize marketing strategies, and support future business growth.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6DABD5-78C7-F9BB-4006-D898EC606F44}"/>
              </a:ext>
            </a:extLst>
          </p:cNvPr>
          <p:cNvSpPr txBox="1"/>
          <p:nvPr/>
        </p:nvSpPr>
        <p:spPr>
          <a:xfrm>
            <a:off x="694402" y="4353328"/>
            <a:ext cx="9216513" cy="92333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Takeaway:</a:t>
            </a:r>
            <a:br>
              <a:rPr lang="en-IN" dirty="0"/>
            </a:br>
            <a:r>
              <a:rPr lang="en-IN" i="1" dirty="0"/>
              <a:t>Organizations should prioritize product performance, seasonal demand, and regional trends over gender-based marketing to maximize business growth.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2397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FEC421B-E375-5D99-FB7C-908C3AF7E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10612" y="6492875"/>
            <a:ext cx="1546122" cy="365125"/>
          </a:xfrm>
        </p:spPr>
        <p:txBody>
          <a:bodyPr/>
          <a:lstStyle/>
          <a:p>
            <a:r>
              <a:rPr lang="en-IN" sz="1000" dirty="0" err="1">
                <a:solidFill>
                  <a:schemeClr val="tx1"/>
                </a:solidFill>
              </a:rPr>
              <a:t>ApexPlanet</a:t>
            </a:r>
            <a:r>
              <a:rPr lang="en-IN" sz="1000" dirty="0">
                <a:solidFill>
                  <a:schemeClr val="tx1"/>
                </a:solidFill>
              </a:rPr>
              <a:t> Internship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DAD40E-6824-7CCA-4B99-3F2F071FFAE2}"/>
              </a:ext>
            </a:extLst>
          </p:cNvPr>
          <p:cNvSpPr txBox="1"/>
          <p:nvPr/>
        </p:nvSpPr>
        <p:spPr>
          <a:xfrm>
            <a:off x="11415253" y="6552326"/>
            <a:ext cx="6980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July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368FE-5655-1C2F-F6A5-FB2EB7F532D7}"/>
              </a:ext>
            </a:extLst>
          </p:cNvPr>
          <p:cNvSpPr txBox="1"/>
          <p:nvPr/>
        </p:nvSpPr>
        <p:spPr>
          <a:xfrm>
            <a:off x="2890684" y="2240424"/>
            <a:ext cx="585019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8800" dirty="0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663732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583</Words>
  <Application>Microsoft Office PowerPoint</Application>
  <PresentationFormat>Widescreen</PresentationFormat>
  <Paragraphs>94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Sales Performance Analysis &amp; Business Insights</vt:lpstr>
      <vt:lpstr>Business Objective</vt:lpstr>
      <vt:lpstr>Dataset Overview </vt:lpstr>
      <vt:lpstr>Dashboard Overview</vt:lpstr>
      <vt:lpstr>Key Business Insights</vt:lpstr>
      <vt:lpstr>Business Hypothesis </vt:lpstr>
      <vt:lpstr>Statistical Analysis &amp; Results </vt:lpstr>
      <vt:lpstr>Business Recommendations 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Kushaljeet Singh Arora</dc:creator>
  <cp:lastModifiedBy>Kushaljeet Singh Arora</cp:lastModifiedBy>
  <cp:revision>19</cp:revision>
  <dcterms:created xsi:type="dcterms:W3CDTF">2026-07-06T15:20:09Z</dcterms:created>
  <dcterms:modified xsi:type="dcterms:W3CDTF">2026-07-07T19:30:32Z</dcterms:modified>
</cp:coreProperties>
</file>